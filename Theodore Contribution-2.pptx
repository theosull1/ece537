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C075D8-8FEB-41A9-921B-E567376C4C9F}">
  <a:tblStyle styleId="{C0C075D8-8FEB-41A9-921B-E567376C4C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9f1ededd3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9f1ededd3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63131e18b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63131e18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9f1ededd3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9f1ededd3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9eef6b5ea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9eef6b5ea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9eef6b5ea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9eef6b5ea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62b801a41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62b801a41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9f1daaa05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9f1daaa05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9f1daaa05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9f1daaa05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0493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latin typeface="Calibri"/>
                <a:ea typeface="Calibri"/>
                <a:cs typeface="Calibri"/>
                <a:sym typeface="Calibri"/>
              </a:rPr>
              <a:t>ECE 537 / CIS 568 - Data Mining</a:t>
            </a:r>
            <a:endParaRPr b="1" i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800">
                <a:latin typeface="Calibri"/>
                <a:ea typeface="Calibri"/>
                <a:cs typeface="Calibri"/>
                <a:sym typeface="Calibri"/>
              </a:rPr>
              <a:t>ARCTIc</a:t>
            </a:r>
            <a:br>
              <a:rPr lang="en"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" sz="2600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i="1" lang="en" sz="2600">
                <a:latin typeface="Calibri"/>
                <a:ea typeface="Calibri"/>
                <a:cs typeface="Calibri"/>
                <a:sym typeface="Calibri"/>
              </a:rPr>
              <a:t>mazon </a:t>
            </a:r>
            <a:r>
              <a:rPr b="1" i="1" lang="en" sz="2600"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i="1" lang="en" sz="2600">
                <a:latin typeface="Calibri"/>
                <a:ea typeface="Calibri"/>
                <a:cs typeface="Calibri"/>
                <a:sym typeface="Calibri"/>
              </a:rPr>
              <a:t>eview </a:t>
            </a:r>
            <a:r>
              <a:rPr b="1" i="1" lang="en" sz="2600"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i="1" lang="en" sz="2600">
                <a:latin typeface="Calibri"/>
                <a:ea typeface="Calibri"/>
                <a:cs typeface="Calibri"/>
                <a:sym typeface="Calibri"/>
              </a:rPr>
              <a:t>lassification using </a:t>
            </a:r>
            <a:r>
              <a:rPr b="1" i="1" lang="en" sz="2600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i="1" lang="en" sz="2600">
                <a:latin typeface="Calibri"/>
                <a:ea typeface="Calibri"/>
                <a:cs typeface="Calibri"/>
                <a:sym typeface="Calibri"/>
              </a:rPr>
              <a:t>F-</a:t>
            </a:r>
            <a:r>
              <a:rPr b="1" i="1" lang="en" sz="2600"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i="1" lang="en" sz="2600">
                <a:latin typeface="Calibri"/>
                <a:ea typeface="Calibri"/>
                <a:cs typeface="Calibri"/>
                <a:sym typeface="Calibri"/>
              </a:rPr>
              <a:t>DF Ve</a:t>
            </a:r>
            <a:r>
              <a:rPr b="1" i="1" lang="en" sz="2600"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i="1" lang="en" sz="2600">
                <a:latin typeface="Calibri"/>
                <a:ea typeface="Calibri"/>
                <a:cs typeface="Calibri"/>
                <a:sym typeface="Calibri"/>
              </a:rPr>
              <a:t>tors</a:t>
            </a:r>
            <a:endParaRPr i="1"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519925"/>
            <a:ext cx="8520600" cy="9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Samuel Bellaire</a:t>
            </a:r>
            <a:r>
              <a:rPr baseline="30000" i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br>
              <a:rPr i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Theodore Sullivan</a:t>
            </a:r>
            <a:r>
              <a:rPr baseline="30000" i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30000"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19006" r="15880" t="0"/>
          <a:stretch/>
        </p:blipFill>
        <p:spPr>
          <a:xfrm>
            <a:off x="8523325" y="75850"/>
            <a:ext cx="537800" cy="8259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2725" y="4608821"/>
            <a:ext cx="9144000" cy="5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TF-IDF Feature Space,     Logistic Regression Model,     ANN Model</a:t>
            </a:r>
            <a:endParaRPr i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Dictionary Construction using </a:t>
            </a:r>
            <a:r>
              <a:rPr b="1" i="1" lang="en" sz="1300">
                <a:solidFill>
                  <a:srgbClr val="202122"/>
                </a:solidFill>
              </a:rPr>
              <a:t>Ⲭ</a:t>
            </a:r>
            <a:r>
              <a:rPr b="1" i="1" lang="en" sz="700">
                <a:solidFill>
                  <a:srgbClr val="202122"/>
                </a:solidFill>
              </a:rPr>
              <a:t> </a:t>
            </a:r>
            <a:r>
              <a:rPr b="1" baseline="30000" i="1" lang="en" sz="1300">
                <a:solidFill>
                  <a:srgbClr val="202122"/>
                </a:solidFill>
              </a:rPr>
              <a:t>2</a:t>
            </a:r>
            <a:r>
              <a:rPr b="1" i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    Decision Tree Model,     k-NN Model</a:t>
            </a:r>
            <a:endParaRPr b="1" i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19006" r="15880" t="0"/>
          <a:stretch/>
        </p:blipFill>
        <p:spPr>
          <a:xfrm>
            <a:off x="8523325" y="75850"/>
            <a:ext cx="537800" cy="8259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1277700" y="1786050"/>
            <a:ext cx="6588600" cy="15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000">
                <a:latin typeface="Calibri"/>
                <a:ea typeface="Calibri"/>
                <a:cs typeface="Calibri"/>
                <a:sym typeface="Calibri"/>
              </a:rPr>
              <a:t>Note:</a:t>
            </a:r>
            <a:endParaRPr b="1" i="1"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This set of slides describes only </a:t>
            </a:r>
            <a:r>
              <a:rPr b="1" i="1" lang="en" sz="2400">
                <a:latin typeface="Calibri"/>
                <a:ea typeface="Calibri"/>
                <a:cs typeface="Calibri"/>
                <a:sym typeface="Calibri"/>
              </a:rPr>
              <a:t>Theodore Sullivan’s contributions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 to the project. This is not the full set of presentation slides. Please refer to the </a:t>
            </a:r>
            <a:r>
              <a:rPr b="1" i="1" lang="en" sz="2400">
                <a:latin typeface="Calibri"/>
                <a:ea typeface="Calibri"/>
                <a:cs typeface="Calibri"/>
                <a:sym typeface="Calibri"/>
              </a:rPr>
              <a:t>Final Presentation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 for the full set of slides.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0" l="19006" r="15880" t="0"/>
          <a:stretch/>
        </p:blipFill>
        <p:spPr>
          <a:xfrm>
            <a:off x="8523325" y="75850"/>
            <a:ext cx="537800" cy="8259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1277700" y="1925700"/>
            <a:ext cx="6588600" cy="113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000">
                <a:latin typeface="Calibri"/>
                <a:ea typeface="Calibri"/>
                <a:cs typeface="Calibri"/>
                <a:sym typeface="Calibri"/>
              </a:rPr>
              <a:t>Objective:</a:t>
            </a:r>
            <a:endParaRPr b="1" i="1"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Given the text of an Amazon review, determine whether it is a good, bad, or neutral review.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137900" y="126300"/>
            <a:ext cx="852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000"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1" i="1"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901800"/>
            <a:ext cx="6391500" cy="3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Review Dataset</a:t>
            </a:r>
            <a:endParaRPr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i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J. Ni, J. Li, and J. McAuley. Justifying Recommendations using Distantly-Labeled Reviews and Fine-Grained Aspects. EMNLP-IJCNLP 2019.</a:t>
            </a:r>
            <a:endParaRPr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Electronics 5-core dataset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6,739,590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reviews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products and reviewers have 5 or more reviews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extracted 3 stratified subsets for our work (70/15/15 split)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150K training instances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30K validation instances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30K testing instances</a:t>
            </a:r>
            <a:endParaRPr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0" l="19006" r="15880" t="0"/>
          <a:stretch/>
        </p:blipFill>
        <p:spPr>
          <a:xfrm>
            <a:off x="8523325" y="75850"/>
            <a:ext cx="537800" cy="8259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9625" y="1513688"/>
            <a:ext cx="2116125" cy="21161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6851038" y="3553925"/>
            <a:ext cx="2013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Review Dataset</a:t>
            </a:r>
            <a:endParaRPr b="1"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37900" y="126300"/>
            <a:ext cx="852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000">
                <a:latin typeface="Calibri"/>
                <a:ea typeface="Calibri"/>
                <a:cs typeface="Calibri"/>
                <a:sym typeface="Calibri"/>
              </a:rPr>
              <a:t>Dictionary Construction Workflow</a:t>
            </a:r>
            <a:endParaRPr b="1" i="1"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19006" r="15880" t="0"/>
          <a:stretch/>
        </p:blipFill>
        <p:spPr>
          <a:xfrm>
            <a:off x="8523325" y="75850"/>
            <a:ext cx="537800" cy="8259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700" y="811800"/>
            <a:ext cx="8260599" cy="2516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3375" y="3702175"/>
            <a:ext cx="2920350" cy="101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8250" y="3702175"/>
            <a:ext cx="2146997" cy="101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137900" y="126300"/>
            <a:ext cx="852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000">
                <a:latin typeface="Calibri"/>
                <a:ea typeface="Calibri"/>
                <a:cs typeface="Calibri"/>
                <a:sym typeface="Calibri"/>
              </a:rPr>
              <a:t>Dictionary Construction Workflow</a:t>
            </a:r>
            <a:endParaRPr b="1" i="1"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 rotWithShape="1">
          <a:blip r:embed="rId3">
            <a:alphaModFix/>
          </a:blip>
          <a:srcRect b="0" l="19006" r="15880" t="0"/>
          <a:stretch/>
        </p:blipFill>
        <p:spPr>
          <a:xfrm>
            <a:off x="8523325" y="75850"/>
            <a:ext cx="537800" cy="825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750" y="1070322"/>
            <a:ext cx="3607351" cy="2935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8710" y="1070326"/>
            <a:ext cx="3710840" cy="293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/>
          <p:nvPr/>
        </p:nvSpPr>
        <p:spPr>
          <a:xfrm>
            <a:off x="6551416" y="1269610"/>
            <a:ext cx="1840200" cy="268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2386965" y="1835675"/>
            <a:ext cx="1882200" cy="2688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1403763" y="676725"/>
            <a:ext cx="2013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Sorted by </a:t>
            </a:r>
            <a:r>
              <a:rPr b="1" i="1" lang="en" sz="1600">
                <a:solidFill>
                  <a:srgbClr val="202122"/>
                </a:solidFill>
              </a:rPr>
              <a:t>Ⲭ</a:t>
            </a:r>
            <a:r>
              <a:rPr b="1" i="1" lang="en" sz="800">
                <a:solidFill>
                  <a:srgbClr val="202122"/>
                </a:solidFill>
              </a:rPr>
              <a:t> </a:t>
            </a:r>
            <a:r>
              <a:rPr b="1" baseline="30000" i="1" lang="en" sz="1600">
                <a:solidFill>
                  <a:srgbClr val="202122"/>
                </a:solidFill>
              </a:rPr>
              <a:t>2</a:t>
            </a:r>
            <a:endParaRPr b="1" baseline="30000"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5321977" y="676725"/>
            <a:ext cx="2304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Sorted by GINI Impurity</a:t>
            </a:r>
            <a:endParaRPr b="1" baseline="30000"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2130050" y="4005950"/>
            <a:ext cx="4536300" cy="97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202122"/>
                </a:solidFill>
              </a:rPr>
              <a:t>Ⲭ</a:t>
            </a:r>
            <a:r>
              <a:rPr b="1" i="1" lang="en" sz="800">
                <a:solidFill>
                  <a:srgbClr val="202122"/>
                </a:solidFill>
              </a:rPr>
              <a:t> </a:t>
            </a:r>
            <a:r>
              <a:rPr b="1" baseline="30000" i="1" lang="en" sz="1600">
                <a:solidFill>
                  <a:srgbClr val="202122"/>
                </a:solidFill>
              </a:rPr>
              <a:t>2</a:t>
            </a:r>
            <a:r>
              <a:rPr lang="en" sz="1600">
                <a:solidFill>
                  <a:srgbClr val="202122"/>
                </a:solidFill>
                <a:latin typeface="Calibri"/>
                <a:ea typeface="Calibri"/>
                <a:cs typeface="Calibri"/>
                <a:sym typeface="Calibri"/>
              </a:rPr>
              <a:t> produced better results than GINI in testing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/>
          <p:cNvPicPr preferRelativeResize="0"/>
          <p:nvPr/>
        </p:nvPicPr>
        <p:blipFill rotWithShape="1">
          <a:blip r:embed="rId3">
            <a:alphaModFix/>
          </a:blip>
          <a:srcRect b="0" l="19006" r="15880" t="0"/>
          <a:stretch/>
        </p:blipFill>
        <p:spPr>
          <a:xfrm>
            <a:off x="8523325" y="75850"/>
            <a:ext cx="537800" cy="82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981975"/>
            <a:ext cx="852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000">
                <a:latin typeface="Calibri"/>
                <a:ea typeface="Calibri"/>
                <a:cs typeface="Calibri"/>
                <a:sym typeface="Calibri"/>
              </a:rPr>
              <a:t>Machine Learning Approaches</a:t>
            </a:r>
            <a:endParaRPr b="1" i="1"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1805000" y="2676075"/>
            <a:ext cx="2013300" cy="9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 b="1" i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i="1" lang="en" sz="1600">
                <a:latin typeface="Calibri"/>
                <a:ea typeface="Calibri"/>
                <a:cs typeface="Calibri"/>
                <a:sym typeface="Calibri"/>
              </a:rPr>
              <a:t>cikit-learn</a:t>
            </a:r>
            <a:endParaRPr i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5014900" y="2676075"/>
            <a:ext cx="2324100" cy="9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latin typeface="Calibri"/>
                <a:ea typeface="Calibri"/>
                <a:cs typeface="Calibri"/>
                <a:sym typeface="Calibri"/>
              </a:rPr>
              <a:t>k-Nearest Neighbours</a:t>
            </a:r>
            <a:endParaRPr b="1" i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 i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137900" y="126300"/>
            <a:ext cx="852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000">
                <a:latin typeface="Calibri"/>
                <a:ea typeface="Calibri"/>
                <a:cs typeface="Calibri"/>
                <a:sym typeface="Calibri"/>
              </a:rPr>
              <a:t>Decision Tree</a:t>
            </a:r>
            <a:r>
              <a:rPr b="1" i="1" lang="en" sz="3000">
                <a:latin typeface="Calibri"/>
                <a:ea typeface="Calibri"/>
                <a:cs typeface="Calibri"/>
                <a:sym typeface="Calibri"/>
              </a:rPr>
              <a:t> Model</a:t>
            </a:r>
            <a:endParaRPr b="1" i="1"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0"/>
          <p:cNvPicPr preferRelativeResize="0"/>
          <p:nvPr/>
        </p:nvPicPr>
        <p:blipFill rotWithShape="1">
          <a:blip r:embed="rId3">
            <a:alphaModFix/>
          </a:blip>
          <a:srcRect b="0" l="19006" r="15880" t="0"/>
          <a:stretch/>
        </p:blipFill>
        <p:spPr>
          <a:xfrm>
            <a:off x="8523325" y="75850"/>
            <a:ext cx="537800" cy="82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311700" y="901800"/>
            <a:ext cx="4986600" cy="3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Optimization Criterion: Entropy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Max. Tree Depth: 14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Min. Samples to Split: 1000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Min. Samples per Leaf: 50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Weight: Balanced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Grid search was utilized to determine parameters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3" name="Google Shape;123;p20"/>
          <p:cNvGraphicFramePr/>
          <p:nvPr/>
        </p:nvGraphicFramePr>
        <p:xfrm>
          <a:off x="5549975" y="332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{C0C075D8-8FEB-41A9-921B-E567376C4C9F}</a:tableStyleId>
              </a:tblPr>
              <a:tblGrid>
                <a:gridCol w="931075"/>
                <a:gridCol w="931075"/>
                <a:gridCol w="931075"/>
              </a:tblGrid>
              <a:tr h="32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 +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 -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+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3069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6931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-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1106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8894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" name="Google Shape;124;p20"/>
          <p:cNvGraphicFramePr/>
          <p:nvPr/>
        </p:nvGraphicFramePr>
        <p:xfrm>
          <a:off x="5549975" y="1439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{C0C075D8-8FEB-41A9-921B-E567376C4C9F}</a:tableStyleId>
              </a:tblPr>
              <a:tblGrid>
                <a:gridCol w="698300"/>
                <a:gridCol w="698300"/>
                <a:gridCol w="698300"/>
                <a:gridCol w="698300"/>
              </a:tblGrid>
              <a:tr h="32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 +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 -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 ~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+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2699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6923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378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-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756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8884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360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~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1197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8317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486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  <p:sp>
        <p:nvSpPr>
          <p:cNvPr id="125" name="Google Shape;125;p20"/>
          <p:cNvSpPr txBox="1"/>
          <p:nvPr/>
        </p:nvSpPr>
        <p:spPr>
          <a:xfrm>
            <a:off x="5549942" y="1046175"/>
            <a:ext cx="2793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3-Class, Accuracy =</a:t>
            </a:r>
            <a:r>
              <a:rPr b="1" i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40.27%</a:t>
            </a:r>
            <a:endParaRPr b="1"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5549955" y="2934650"/>
            <a:ext cx="2793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2-Class, Accuracy =</a:t>
            </a:r>
            <a:r>
              <a:rPr b="1" i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59.82%</a:t>
            </a:r>
            <a:endParaRPr b="1"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137900" y="126300"/>
            <a:ext cx="852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000">
                <a:latin typeface="Calibri"/>
                <a:ea typeface="Calibri"/>
                <a:cs typeface="Calibri"/>
                <a:sym typeface="Calibri"/>
              </a:rPr>
              <a:t>k-NN Clustering Algorithm</a:t>
            </a:r>
            <a:endParaRPr b="1" i="1"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21"/>
          <p:cNvPicPr preferRelativeResize="0"/>
          <p:nvPr/>
        </p:nvPicPr>
        <p:blipFill rotWithShape="1">
          <a:blip r:embed="rId3">
            <a:alphaModFix/>
          </a:blip>
          <a:srcRect b="0" l="19006" r="15880" t="0"/>
          <a:stretch/>
        </p:blipFill>
        <p:spPr>
          <a:xfrm>
            <a:off x="8523325" y="75850"/>
            <a:ext cx="537800" cy="82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11700" y="901800"/>
            <a:ext cx="5105100" cy="3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Metric: Euclidean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Neighbours (</a:t>
            </a:r>
            <a:r>
              <a:rPr b="1" i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 125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Grid search was utilized to determine parameters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k-NN impractical due to the high number of distance computations (&gt;100K data points)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5" name="Google Shape;135;p21"/>
          <p:cNvGraphicFramePr/>
          <p:nvPr/>
        </p:nvGraphicFramePr>
        <p:xfrm>
          <a:off x="5549975" y="332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{C0C075D8-8FEB-41A9-921B-E567376C4C9F}</a:tableStyleId>
              </a:tblPr>
              <a:tblGrid>
                <a:gridCol w="931075"/>
                <a:gridCol w="931075"/>
                <a:gridCol w="931075"/>
              </a:tblGrid>
              <a:tr h="32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 +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 -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+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2874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7126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-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9057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Google Shape;136;p21"/>
          <p:cNvGraphicFramePr/>
          <p:nvPr/>
        </p:nvGraphicFramePr>
        <p:xfrm>
          <a:off x="5549975" y="1439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{C0C075D8-8FEB-41A9-921B-E567376C4C9F}</a:tableStyleId>
              </a:tblPr>
              <a:tblGrid>
                <a:gridCol w="698300"/>
                <a:gridCol w="698300"/>
                <a:gridCol w="698300"/>
                <a:gridCol w="698300"/>
              </a:tblGrid>
              <a:tr h="32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 +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 -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 ~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+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2553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6981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466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-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623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8931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446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~</a:t>
                      </a:r>
                      <a:endParaRPr b="1" i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1026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8378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596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21"/>
          <p:cNvSpPr txBox="1"/>
          <p:nvPr/>
        </p:nvSpPr>
        <p:spPr>
          <a:xfrm>
            <a:off x="5549942" y="1046175"/>
            <a:ext cx="2793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3-Class, Accuracy =</a:t>
            </a:r>
            <a:r>
              <a:rPr b="1" i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40.04%</a:t>
            </a:r>
            <a:endParaRPr b="1"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5549955" y="2934650"/>
            <a:ext cx="2793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2-Class, Accuracy =</a:t>
            </a:r>
            <a:r>
              <a:rPr b="1" i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59.65%</a:t>
            </a:r>
            <a:endParaRPr b="1"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